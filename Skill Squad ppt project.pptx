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28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CF8"/>
    <a:srgbClr val="1A7C73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6" y="924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821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1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550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39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08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13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13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306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68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406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89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48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34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4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96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69214"/>
            <a:ext cx="5692140" cy="30655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053078"/>
            <a:ext cx="8636458" cy="432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0872"/>
            <a:ext cx="222276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4690872"/>
            <a:ext cx="1259732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0872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57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491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78B0F9-A882-714F-9C27-FCBF1CD8987F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88D53-A1D4-D055-2182-B4FB79EFFFC1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87B88497-B7CE-AEA2-A107-142DCA8BBF89}"/>
              </a:ext>
            </a:extLst>
          </p:cNvPr>
          <p:cNvPicPr preferRelativeResize="0"/>
          <p:nvPr userDrawn="1"/>
        </p:nvPicPr>
        <p:blipFill rotWithShape="1">
          <a:blip r:embed="rId26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B0BF1CA-4FA4-0C9D-E60F-8723072A9E2C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66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3701" r:id="rId20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-1" y="0"/>
            <a:ext cx="9144000" cy="52046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highlight>
                <a:srgbClr val="E8ECF8"/>
              </a:highlight>
            </a:endParaRP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3208207" y="172444"/>
            <a:ext cx="2888517" cy="773873"/>
            <a:chOff x="-95698" y="-184519"/>
            <a:chExt cx="1991689" cy="363440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95698" y="-184519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3320627" y="286947"/>
            <a:ext cx="2659356" cy="451764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F6E82E98-D0CF-7123-A3C9-D9B8A17D827D}"/>
              </a:ext>
            </a:extLst>
          </p:cNvPr>
          <p:cNvSpPr/>
          <p:nvPr/>
        </p:nvSpPr>
        <p:spPr>
          <a:xfrm>
            <a:off x="211671" y="806274"/>
            <a:ext cx="87206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Sales </a:t>
            </a:r>
            <a:r>
              <a:rPr lang="en-US" sz="48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Management</a:t>
            </a:r>
            <a:r>
              <a:rPr lang="en-US" sz="54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 System</a:t>
            </a:r>
            <a:endParaRPr lang="en-US" sz="5400" b="0" cap="none" spc="0" dirty="0">
              <a:ln w="0"/>
              <a:effectLst>
                <a:glow rad="101600">
                  <a:schemeClr val="bg1">
                    <a:alpha val="60000"/>
                  </a:schemeClr>
                </a:glo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EBFCA9-B109-2B82-65B4-614C596D9C92}"/>
              </a:ext>
            </a:extLst>
          </p:cNvPr>
          <p:cNvSpPr/>
          <p:nvPr/>
        </p:nvSpPr>
        <p:spPr>
          <a:xfrm>
            <a:off x="2169859" y="1787347"/>
            <a:ext cx="51090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Sales Data Analysis &amp; Dashboard</a:t>
            </a:r>
            <a:endParaRPr lang="en-US" sz="24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1EC0E6-3B9C-0029-9F78-A957BC93991E}"/>
              </a:ext>
            </a:extLst>
          </p:cNvPr>
          <p:cNvSpPr/>
          <p:nvPr/>
        </p:nvSpPr>
        <p:spPr>
          <a:xfrm>
            <a:off x="3208207" y="2371269"/>
            <a:ext cx="3293609" cy="523220"/>
          </a:xfrm>
          <a:prstGeom prst="rect">
            <a:avLst/>
          </a:prstGeom>
          <a:noFill/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Members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66C7E2-131C-903A-9DCD-90E61B692796}"/>
              </a:ext>
            </a:extLst>
          </p:cNvPr>
          <p:cNvSpPr txBox="1"/>
          <p:nvPr/>
        </p:nvSpPr>
        <p:spPr>
          <a:xfrm>
            <a:off x="3580897" y="3016746"/>
            <a:ext cx="2776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Nirupama  Dwivedi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Shreya Sharma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Trisha Upadhayay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Siddhi Kesharwani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57E92B-B7E1-F049-E463-46F072EDCB94}"/>
              </a:ext>
            </a:extLst>
          </p:cNvPr>
          <p:cNvSpPr/>
          <p:nvPr/>
        </p:nvSpPr>
        <p:spPr>
          <a:xfrm>
            <a:off x="6964476" y="4201148"/>
            <a:ext cx="201029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Guided by</a:t>
            </a:r>
          </a:p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Shailesh Yadav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2" name="jonasblakewood-technology-modern-533867">
            <a:hlinkClick r:id="" action="ppaction://media"/>
            <a:extLst>
              <a:ext uri="{FF2B5EF4-FFF2-40B4-BE49-F238E27FC236}">
                <a16:creationId xmlns:a16="http://schemas.microsoft.com/office/drawing/2014/main" id="{D9A0B7B1-E078-0BD9-A4B1-B646087E2C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418" y="459507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  <p:bldLst>
      <p:bldP spid="55" grpId="0"/>
      <p:bldP spid="56" grpId="0"/>
      <p:bldP spid="57" grpId="0" animBg="1"/>
      <p:bldP spid="58" grpId="0" build="p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EF2C99-616C-4081-33F8-5F50B411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15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3296489" y="507797"/>
            <a:ext cx="59819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effectLst>
                  <a:glow rad="101600">
                    <a:schemeClr val="tx2">
                      <a:lumMod val="75000"/>
                      <a:alpha val="60000"/>
                    </a:schemeClr>
                  </a:glow>
                </a:effectLst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4400" dirty="0">
              <a:solidFill>
                <a:srgbClr val="213163"/>
              </a:solidFill>
              <a:effectLst>
                <a:glow rad="101600">
                  <a:schemeClr val="tx2">
                    <a:lumMod val="75000"/>
                    <a:alpha val="60000"/>
                  </a:schemeClr>
                </a:glow>
              </a:effectLst>
            </a:endParaRPr>
          </a:p>
        </p:txBody>
      </p: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352632" y="1473818"/>
            <a:ext cx="5130331" cy="366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Organize Sales Data</a:t>
            </a:r>
            <a:br>
              <a:rPr lang="en-IN" sz="1400" dirty="0"/>
            </a:br>
            <a:r>
              <a:rPr lang="en-IN" sz="1400" dirty="0"/>
              <a:t>Manage and organize sales transactions in a structured Excel format.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Track Key Sales Metrics</a:t>
            </a:r>
            <a:br>
              <a:rPr lang="en-IN" sz="1400" dirty="0"/>
            </a:br>
            <a:r>
              <a:rPr lang="en-IN" sz="1400" dirty="0"/>
              <a:t>Track total revenue, units sold, transactions, and average unit price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 err="1"/>
              <a:t>Analyze</a:t>
            </a:r>
            <a:r>
              <a:rPr lang="en-IN" sz="1400" b="1" dirty="0"/>
              <a:t> Sales Performance</a:t>
            </a:r>
            <a:br>
              <a:rPr lang="en-IN" sz="1400" dirty="0"/>
            </a:br>
            <a:r>
              <a:rPr lang="en-IN" sz="1400" dirty="0" err="1"/>
              <a:t>Analyze</a:t>
            </a:r>
            <a:r>
              <a:rPr lang="en-IN" sz="1400" dirty="0"/>
              <a:t> sales based on product categories, regions, and payment methods.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Create an Interactive Dashboard</a:t>
            </a:r>
            <a:br>
              <a:rPr lang="en-IN" sz="1400" dirty="0"/>
            </a:br>
            <a:r>
              <a:rPr lang="en-IN" sz="1400" dirty="0"/>
              <a:t>Visualize sales performance using charts, graphs, and summaries for better analysis.</a:t>
            </a:r>
            <a:endParaRPr lang="en-US" sz="1400" dirty="0"/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9D782-023B-ABE8-010D-05EC178F5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7" y="1572428"/>
            <a:ext cx="2916750" cy="25692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3171462" y="518332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Project 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A2675-942D-6145-BE9C-B1DD1294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9" y="1272988"/>
            <a:ext cx="8234082" cy="34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842762" y="496478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31950" y="1311157"/>
            <a:ext cx="488828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Sales Forecasting</a:t>
            </a:r>
            <a:br>
              <a:rPr lang="en-IN" sz="1400" dirty="0"/>
            </a:br>
            <a:r>
              <a:rPr lang="en-IN" sz="1400" dirty="0"/>
              <a:t>Predict future sales and demand using historical sales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Inventory Management</a:t>
            </a:r>
            <a:br>
              <a:rPr lang="en-IN" sz="1400" dirty="0"/>
            </a:br>
            <a:r>
              <a:rPr lang="en-IN" sz="1400" dirty="0"/>
              <a:t>Monitor stock levels and manage inventory efficiently.</a:t>
            </a:r>
          </a:p>
          <a:p>
            <a:r>
              <a:rPr lang="en-IN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Automated Reporting</a:t>
            </a:r>
            <a:br>
              <a:rPr lang="en-IN" sz="1400" dirty="0"/>
            </a:br>
            <a:r>
              <a:rPr lang="en-IN" sz="1400" dirty="0"/>
              <a:t>Generate sales reports automatically for faster analysis.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/>
              <a:t>Advanced Dashboard</a:t>
            </a:r>
            <a:br>
              <a:rPr lang="en-IN" sz="1400" dirty="0"/>
            </a:br>
            <a:r>
              <a:rPr lang="en-IN" sz="1400" dirty="0"/>
              <a:t>Add interactive filters, KPIs, and advanced visualizations for better insights.</a:t>
            </a:r>
          </a:p>
          <a:p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85690-C066-2DF4-0C0D-79279DDE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751" y="1142768"/>
            <a:ext cx="3489262" cy="26782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228694" y="632010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lumMod val="85000"/>
                      <a:alpha val="60000"/>
                    </a:schemeClr>
                  </a:glow>
                </a:effectLst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21113" y="1182255"/>
            <a:ext cx="5326742" cy="358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project successfully </a:t>
            </a:r>
            <a:r>
              <a:rPr lang="en-IN" dirty="0" err="1"/>
              <a:t>analyze</a:t>
            </a:r>
            <a:r>
              <a:rPr lang="en-IN" dirty="0"/>
              <a:t> sales data using Microsoft Excel</a:t>
            </a:r>
            <a:r>
              <a:rPr lang="en-US" dirty="0"/>
              <a:t>. 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It provides clear insights into revenue, units sold, transactions, categories, and regions.</a:t>
            </a:r>
            <a:endParaRPr lang="en-US" dirty="0"/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dashboard makes sales performance easier to understand through KPIs, charts, filters, and analysis.</a:t>
            </a:r>
            <a:endParaRPr lang="en-US" dirty="0"/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workbook can be updated with new transactions and the analysis can be refreshed for future use. 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48352-9609-7BDD-2D08-71A32A51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073" y="1440873"/>
            <a:ext cx="3306620" cy="27417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7F564A-F96D-9253-4DFB-4FFEB8A8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2" y="803564"/>
            <a:ext cx="8266545" cy="41194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Click="0" advTm="3000">
        <p15:prstTrans prst="curtains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0fa2617-96bd-425d-8578-e93563fe37c5"/>
    <ds:schemaRef ds:uri="9162bd5b-4ed9-4da3-b376-05204580ba3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440</TotalTime>
  <Words>216</Words>
  <Application>Microsoft Office PowerPoint</Application>
  <PresentationFormat>On-screen Show (16:9)</PresentationFormat>
  <Paragraphs>33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Nirupama Dwivedi</cp:lastModifiedBy>
  <cp:revision>29</cp:revision>
  <dcterms:modified xsi:type="dcterms:W3CDTF">2026-09-23T10:20:42Z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